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0050"/>
            <a:ext cx="9525000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6B3F99"/>
                </a:solidFill>
                <a:latin typeface="Verdana"/>
              </a:rPr>
              <a:t>How do we capture odor differences?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849" y="85725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E6E73"/>
                </a:solidFill>
                <a:latin typeface="Verdana"/>
              </a:rPr>
              <a:t>Machines copy the nose — so they inherit its blind spot.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8249"/>
            <a:ext cx="3476624" cy="3886200"/>
          </a:xfrm>
          <a:prstGeom prst="roundRect">
            <a:avLst>
              <a:gd name="adj" fmla="val 5000"/>
            </a:avLst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709737" y="1390650"/>
            <a:ext cx="1428750" cy="285750"/>
          </a:xfrm>
          <a:prstGeom prst="roundRect">
            <a:avLst>
              <a:gd name="adj" fmla="val 28000"/>
            </a:avLst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Verdana"/>
              </a:rPr>
              <a:t>Human nose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781174"/>
            <a:ext cx="3133724" cy="17525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FB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7250" y="2333624"/>
            <a:ext cx="313372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1" i="0">
                <a:solidFill>
                  <a:srgbClr val="6E6E73"/>
                </a:solidFill>
                <a:latin typeface="Verdana"/>
              </a:rPr>
              <a:t>Cell 1999 figure here</a:t>
            </a:r>
          </a:p>
          <a:p>
            <a:pPr algn="ctr">
              <a:lnSpc>
                <a:spcPct val="135000"/>
              </a:lnSpc>
            </a:pPr>
            <a:r>
              <a:rPr sz="900" b="0" i="0">
                <a:solidFill>
                  <a:srgbClr val="6E6E73"/>
                </a:solidFill>
                <a:latin typeface="Verdana"/>
              </a:rPr>
              <a:t>odorants × receptors matrix</a:t>
            </a:r>
          </a:p>
          <a:p>
            <a:pPr algn="ctr">
              <a:lnSpc>
                <a:spcPct val="135000"/>
              </a:lnSpc>
            </a:pPr>
            <a:r>
              <a:rPr sz="900" b="0" i="0">
                <a:solidFill>
                  <a:srgbClr val="6E6E73"/>
                </a:solidFill>
                <a:latin typeface="Verdana"/>
              </a:rPr>
              <a:t>(crop to ~5 rows)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590924"/>
            <a:ext cx="3286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6E6E73"/>
                </a:solidFill>
                <a:latin typeface="Verdana"/>
              </a:rPr>
              <a:t>Malnic et al., Cell 96, 713 (1999)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49" y="3829050"/>
            <a:ext cx="3209925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2B2B2B"/>
                </a:solidFill>
                <a:latin typeface="Verdana"/>
              </a:rPr>
              <a:t>One odorant hits </a:t>
            </a:r>
            <a:r>
              <a:rPr sz="1050" b="1" i="0">
                <a:solidFill>
                  <a:srgbClr val="2B2B2B"/>
                </a:solidFill>
                <a:latin typeface="Verdana"/>
              </a:rPr>
              <a:t>many receptors</a:t>
            </a:r>
            <a:r>
              <a:rPr sz="1050" b="0" i="0">
                <a:solidFill>
                  <a:srgbClr val="2B2B2B"/>
                </a:solidFill>
                <a:latin typeface="Verdana"/>
              </a:rPr>
              <a:t>.</a:t>
            </a:r>
          </a:p>
          <a:p>
            <a:pPr algn="ctr">
              <a:lnSpc>
                <a:spcPct val="135000"/>
              </a:lnSpc>
            </a:pPr>
            <a:r>
              <a:rPr sz="1050" b="1" i="0">
                <a:solidFill>
                  <a:srgbClr val="2B2B2B"/>
                </a:solidFill>
                <a:latin typeface="Verdana"/>
              </a:rPr>
              <a:t>Identity is the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537" y="4457700"/>
            <a:ext cx="1066799" cy="2666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5803D"/>
                </a:solidFill>
                <a:latin typeface="Verdana"/>
              </a:rPr>
              <a:t>✓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4587" y="4457700"/>
            <a:ext cx="1181099" cy="2666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2410C"/>
                </a:solidFill>
                <a:latin typeface="Verdana"/>
              </a:rPr>
              <a:t>✗ chemistry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924" y="1238249"/>
            <a:ext cx="3476624" cy="3886200"/>
          </a:xfrm>
          <a:prstGeom prst="roundRect">
            <a:avLst>
              <a:gd name="adj" fmla="val 5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291137" y="1390650"/>
            <a:ext cx="1600200" cy="285750"/>
          </a:xfrm>
          <a:prstGeom prst="roundRect">
            <a:avLst>
              <a:gd name="adj" fmla="val 28000"/>
            </a:avLst>
          </a:prstGeom>
          <a:solidFill>
            <a:srgbClr val="6B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Verdana"/>
              </a:rPr>
              <a:t>Machines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4374" y="1781174"/>
            <a:ext cx="3133724" cy="17525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FB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24374" y="2333624"/>
            <a:ext cx="313372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1" i="0">
                <a:solidFill>
                  <a:srgbClr val="6E6E73"/>
                </a:solidFill>
                <a:latin typeface="Verdana"/>
              </a:rPr>
              <a:t>Adv. Mater. 2024 figure here</a:t>
            </a:r>
          </a:p>
          <a:p>
            <a:pPr algn="ctr">
              <a:lnSpc>
                <a:spcPct val="135000"/>
              </a:lnSpc>
            </a:pPr>
            <a:r>
              <a:rPr sz="900" b="0" i="0">
                <a:solidFill>
                  <a:srgbClr val="6E6E73"/>
                </a:solidFill>
                <a:latin typeface="Verdana"/>
              </a:rPr>
              <a:t>panel b only: sensor array</a:t>
            </a:r>
          </a:p>
          <a:p>
            <a:pPr algn="ctr">
              <a:lnSpc>
                <a:spcPct val="135000"/>
              </a:lnSpc>
            </a:pPr>
            <a:r>
              <a:rPr sz="900" b="0" i="0">
                <a:solidFill>
                  <a:srgbClr val="6E6E73"/>
                </a:solidFill>
                <a:latin typeface="Verdana"/>
              </a:rPr>
              <a:t>→ pattern recognition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8300" y="3209925"/>
            <a:ext cx="2133599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C2410C"/>
                </a:solidFill>
                <a:latin typeface="Verdana"/>
              </a:rPr>
              <a:t>pattern only — which molecule?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175" y="3590924"/>
            <a:ext cx="3286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6E6E73"/>
                </a:solidFill>
                <a:latin typeface="Verdana"/>
              </a:rPr>
              <a:t>Adv. Mater. 36, 2402287 (2024)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275" y="3829050"/>
            <a:ext cx="3209925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2B2B2B"/>
                </a:solidFill>
                <a:latin typeface="Verdana"/>
              </a:rPr>
              <a:t>Arrays rebuild </a:t>
            </a:r>
            <a:r>
              <a:rPr sz="1050" b="1" i="0">
                <a:solidFill>
                  <a:srgbClr val="2B2B2B"/>
                </a:solidFill>
                <a:latin typeface="Verdana"/>
              </a:rPr>
              <a:t>the same pattern</a:t>
            </a:r>
            <a:r>
              <a:rPr sz="1050" b="0" i="0">
                <a:solidFill>
                  <a:srgbClr val="2B2B2B"/>
                </a:solidFill>
                <a:latin typeface="Verdana"/>
              </a:rPr>
              <a:t>,</a:t>
            </a:r>
          </a:p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2B2B2B"/>
                </a:solidFill>
                <a:latin typeface="Verdana"/>
              </a:rPr>
              <a:t>with </a:t>
            </a:r>
            <a:r>
              <a:rPr sz="1050" b="1" i="0">
                <a:solidFill>
                  <a:srgbClr val="2B2B2B"/>
                </a:solidFill>
                <a:latin typeface="Verdana"/>
              </a:rPr>
              <a:t>less</a:t>
            </a:r>
            <a:r>
              <a:rPr sz="1050" b="0" i="0">
                <a:solidFill>
                  <a:srgbClr val="2B2B2B"/>
                </a:solidFill>
                <a:latin typeface="Verdana"/>
              </a:rPr>
              <a:t> chemical detail.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9662" y="4457700"/>
            <a:ext cx="1066799" cy="2666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5803D"/>
                </a:solidFill>
                <a:latin typeface="Verdana"/>
              </a:rPr>
              <a:t>✓ pattern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1712" y="4457700"/>
            <a:ext cx="1181099" cy="2666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2410C"/>
                </a:solidFill>
                <a:latin typeface="Verdana"/>
              </a:rPr>
              <a:t>✗ chemistry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0049" y="1238249"/>
            <a:ext cx="3476624" cy="3886200"/>
          </a:xfrm>
          <a:prstGeom prst="roundRect">
            <a:avLst>
              <a:gd name="adj" fmla="val 5000"/>
            </a:avLst>
          </a:prstGeom>
          <a:solidFill>
            <a:srgbClr val="FCEEF4"/>
          </a:solidFill>
          <a:ln w="31750">
            <a:solidFill>
              <a:srgbClr val="D9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824912" y="1390650"/>
            <a:ext cx="1866899" cy="285750"/>
          </a:xfrm>
          <a:prstGeom prst="roundRect">
            <a:avLst>
              <a:gd name="adj" fmla="val 28000"/>
            </a:avLst>
          </a:prstGeom>
          <a:solidFill>
            <a:srgbClr val="D9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Verdana"/>
              </a:rPr>
              <a:t>Raman — this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499" y="1781174"/>
            <a:ext cx="3133724" cy="17525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raman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49" y="1876424"/>
            <a:ext cx="3019424" cy="179278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53399" y="3829050"/>
            <a:ext cx="3209925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2B2B2B"/>
                </a:solidFill>
                <a:latin typeface="Verdana"/>
              </a:rPr>
              <a:t>Hundreds of narrow bands at once.</a:t>
            </a:r>
          </a:p>
          <a:p>
            <a:pPr algn="ctr">
              <a:lnSpc>
                <a:spcPct val="135000"/>
              </a:lnSpc>
            </a:pPr>
            <a:r>
              <a:rPr sz="1050" b="1" i="0">
                <a:solidFill>
                  <a:srgbClr val="2B2B2B"/>
                </a:solidFill>
                <a:latin typeface="Verdana"/>
              </a:rPr>
              <a:t>Pattern and chemistry together.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86787" y="4457700"/>
            <a:ext cx="1066799" cy="2666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5803D"/>
                </a:solidFill>
                <a:latin typeface="Verdana"/>
              </a:rPr>
              <a:t>✓ pattern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48837" y="4457700"/>
            <a:ext cx="1181099" cy="2666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5803D"/>
                </a:solidFill>
                <a:latin typeface="Verdana"/>
              </a:rPr>
              <a:t>✓ chemistry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314950"/>
            <a:ext cx="10820399" cy="685800"/>
          </a:xfrm>
          <a:prstGeom prst="roundRect">
            <a:avLst>
              <a:gd name="adj" fmla="val 14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52499" y="5467349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E6E73"/>
                </a:solidFill>
                <a:latin typeface="Verdana"/>
              </a:rPr>
              <a:t>GC–MS has the chemistry but not the pattern; the nose and the e-nose have the pattern but not the chemistry.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499" y="57150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94F8A"/>
                </a:solidFill>
                <a:latin typeface="Verdana"/>
              </a:rPr>
              <a:t>→  </a:t>
            </a:r>
            <a:r>
              <a:rPr sz="1200" b="1" i="0">
                <a:solidFill>
                  <a:srgbClr val="D94F8A"/>
                </a:solidFill>
                <a:latin typeface="Verdana"/>
              </a:rPr>
              <a:t>Read the Raman spectrum as a fingerprint map.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900" y="6153149"/>
            <a:ext cx="3047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8412B"/>
                </a:solidFill>
                <a:latin typeface="Verdana"/>
              </a:rPr>
              <a:t>μTAS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3750" y="6267449"/>
            <a:ext cx="9524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E73"/>
                </a:solidFill>
                <a:latin typeface="Verdana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gradFill rotWithShape="1">
            <a:gsLst>
              <a:gs pos="0">
                <a:srgbClr val="1E6B35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